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FC6DB"/>
                </a:solidFill>
                <a:latin typeface="Segoe UI"/>
              </a:rPr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
АРХАНГЕЛЬСКИЙ КОЛЛЕДЖ ТЕЛЕКОММУНИКАЦИЙ ИМ. Б.Л. РОЗИНГА (ФИЛИАЛ) СПбГУТ (АКТ (ф) СПбГУТ)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A458"/>
                </a:solidFill>
                <a:latin typeface="Segoe UI"/>
              </a:rPr>
              <a:t>ДИПЛОМНЫЙ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319"/>
            <a:ext cx="10332720" cy="10601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dirty="0" err="1">
                <a:solidFill>
                  <a:srgbClr val="FFFFFF"/>
                </a:solidFill>
                <a:latin typeface="Segoe UI"/>
              </a:rPr>
              <a:t>Разработка</a:t>
            </a:r>
            <a:r>
              <a:rPr sz="3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Segoe UI"/>
              </a:rPr>
              <a:t>информационной</a:t>
            </a:r>
            <a:r>
              <a:rPr sz="3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Segoe UI"/>
              </a:rPr>
              <a:t>системы</a:t>
            </a:r>
            <a:r>
              <a:rPr sz="3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ru-RU" sz="3400" b="1" i="0" dirty="0">
                <a:solidFill>
                  <a:srgbClr val="FFFFFF"/>
                </a:solidFill>
                <a:latin typeface="Segoe UI"/>
              </a:rPr>
              <a:t>«</a:t>
            </a:r>
            <a:r>
              <a:rPr lang="ru-RU" sz="3400" b="1" i="0" dirty="0" err="1">
                <a:solidFill>
                  <a:srgbClr val="FFFFFF"/>
                </a:solidFill>
                <a:latin typeface="Segoe UI"/>
              </a:rPr>
              <a:t>Гастробар</a:t>
            </a:r>
            <a:r>
              <a:rPr lang="ru-RU" sz="3400" b="1" dirty="0">
                <a:solidFill>
                  <a:srgbClr val="FFFFFF"/>
                </a:solidFill>
                <a:latin typeface="Segoe UI"/>
              </a:rPr>
              <a:t>. Учет продуктов кухни</a:t>
            </a:r>
            <a:r>
              <a:rPr lang="ru-RU" sz="3400" b="1" i="0" dirty="0">
                <a:solidFill>
                  <a:srgbClr val="FFFFFF"/>
                </a:solidFill>
                <a:latin typeface="Segoe UI"/>
              </a:rPr>
              <a:t>»</a:t>
            </a:r>
            <a:endParaRPr sz="3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175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CFC6DB"/>
                </a:solidFill>
                <a:latin typeface="Segoe UI"/>
              </a:rPr>
              <a:t>Дипломник</a:t>
            </a:r>
            <a:r>
              <a:rPr sz="1400" b="0" i="0" dirty="0">
                <a:solidFill>
                  <a:srgbClr val="CFC6DB"/>
                </a:solidFill>
                <a:latin typeface="Segoe UI"/>
              </a:rPr>
              <a:t>:  </a:t>
            </a:r>
            <a:r>
              <a:rPr lang="ru-RU" sz="1400" b="1" i="0" dirty="0" err="1">
                <a:solidFill>
                  <a:srgbClr val="FFFFFF"/>
                </a:solidFill>
                <a:latin typeface="Segoe UI"/>
              </a:rPr>
              <a:t>Кленин</a:t>
            </a:r>
            <a:r>
              <a:rPr lang="ru-RU" sz="1400" b="1" i="0" dirty="0">
                <a:solidFill>
                  <a:srgbClr val="FFFFFF"/>
                </a:solidFill>
                <a:latin typeface="Segoe UI"/>
              </a:rPr>
              <a:t> Игорь Николаевич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CFC6DB"/>
                </a:solidFill>
                <a:latin typeface="Segoe UI"/>
              </a:rPr>
              <a:t>Группа</a:t>
            </a:r>
            <a:r>
              <a:rPr sz="1400" b="0" i="0" dirty="0">
                <a:solidFill>
                  <a:srgbClr val="CFC6DB"/>
                </a:solidFill>
                <a:latin typeface="Segoe UI"/>
              </a:rPr>
              <a:t>:  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ИСПП-21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CFC6DB"/>
                </a:solidFill>
                <a:latin typeface="Segoe UI"/>
              </a:rPr>
              <a:t>Руководитель</a:t>
            </a:r>
            <a:r>
              <a:rPr sz="1400" b="0" i="0" dirty="0">
                <a:solidFill>
                  <a:srgbClr val="CFC6DB"/>
                </a:solidFill>
                <a:latin typeface="Segoe UI"/>
              </a:rPr>
              <a:t>: 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Ипатов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Вадим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Дмитриевич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ru-RU" sz="1300" b="0" i="0" dirty="0">
              <a:solidFill>
                <a:srgbClr val="E0A458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ru-RU" sz="1300" dirty="0">
              <a:solidFill>
                <a:srgbClr val="E0A458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ru-RU" sz="1300" b="0" i="0" dirty="0">
              <a:solidFill>
                <a:srgbClr val="E0A458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dirty="0" err="1">
                <a:solidFill>
                  <a:srgbClr val="E0A458"/>
                </a:solidFill>
                <a:latin typeface="Segoe UI"/>
              </a:rPr>
              <a:t>Архангельск</a:t>
            </a:r>
            <a:r>
              <a:rPr sz="1300" b="0" i="0" dirty="0">
                <a:solidFill>
                  <a:srgbClr val="E0A458"/>
                </a:solidFill>
                <a:latin typeface="Segoe UI"/>
              </a:rP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Актуальность и 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6677"/>
                </a:solidFill>
                <a:latin typeface="Segoe UI"/>
              </a:rPr>
              <a:t>Почему учёт запасов в баре нельзя вести «на бумаге»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6B6677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349240" cy="14173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73152" cy="141732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56232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📋  Ручной учёт остатков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Подсчёт ингредиентов в тетрадях и таблицах —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источник ошибок, пересортицы и потери данных.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349240" cy="14173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73152" cy="141732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856232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🍸  Нет контроля списания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При продаже коктейлей остатки не списываются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автоматически — реальная картина расходится с учётной.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5349240" cy="14173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73152" cy="141732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502152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📉  Поздняя реакция на дефицит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О нехватке ингредиента узнают только когда он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закончился — срываются продажи.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349240" cy="14173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337560"/>
            <a:ext cx="73152" cy="141732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3502152"/>
            <a:ext cx="4892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🔍  Сложная инвентаризация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Ревизия вручную трудоёмка, расхождения между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системой и фактом сложно выявить и зафиксировать.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0060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B2B33"/>
                </a:solidFill>
                <a:latin typeface="Segoe UI"/>
              </a:rPr>
              <a:t>Идея проекта:  </a:t>
            </a:r>
            <a:r>
              <a:rPr sz="1300" b="0" i="0">
                <a:solidFill>
                  <a:srgbClr val="6B6677"/>
                </a:solidFill>
                <a:latin typeface="Segoe UI"/>
              </a:rPr>
              <a:t>объединить учёт ингредиентов, рецептуры коктейлей, продажи, поставки и инвентаризацию в одном защищённом настольном приложении с разграничением прав доступа.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Цель и задачи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6B6677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074920" cy="4480560"/>
          </a:xfrm>
          <a:prstGeom prst="roundRect">
            <a:avLst/>
          </a:prstGeom>
          <a:solidFill>
            <a:srgbClr val="2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0A458"/>
                </a:solidFill>
                <a:latin typeface="Segoe UI"/>
              </a:rPr>
              <a:t>ЦЕЛЬ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Разработать информационную систему для автоматизации учёта складских запасов бара: контроля остатков ингредиентов, ведения рецептур коктейлей, оформления продаж и поставок, проведения инвентаризации и управления пользователями с разграничением прав доступа.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55448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C88A3C"/>
                </a:solidFill>
                <a:latin typeface="Segoe UI"/>
              </a:rPr>
              <a:t>ОСНОВНЫЕ ЗАДАЧИ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148840"/>
            <a:ext cx="53492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проанализировать предметную область учёта запасов бара;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спроектировать реляционную базу данных и доменную модель;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реализовать авторизацию, роли и разграничение доступа;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создать модули ингредиентов, коктейлей, продаж и поставок;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реализовать инвентаризацию и контроль низких остатков;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добавить импорт/экспорт Excel и e-mail-уведомления;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00" b="1" i="0">
                <a:solidFill>
                  <a:srgbClr val="C88A3C"/>
                </a:solidFill>
                <a:latin typeface="Segoe UI"/>
              </a:rPr>
              <a:t>●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покрыть ключевую бизнес-логику модульными тестами.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Архитектура решения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B6677"/>
                </a:solidFill>
                <a:latin typeface="Segoe UI"/>
              </a:rPr>
              <a:t>Многослойная архитектура настольного приложения по шаблону MVVM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6B6677"/>
                </a:solidFill>
                <a:latin typeface="Segoe UI"/>
              </a:rPr>
              <a:t>4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651760" cy="30175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651760" cy="640080"/>
          </a:xfrm>
          <a:prstGeom prst="roundRect">
            <a:avLst/>
          </a:prstGeom>
          <a:solidFill>
            <a:srgbClr val="7A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84247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Представление (View)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19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B2B33"/>
                </a:solidFill>
                <a:latin typeface="Segoe UI"/>
              </a:rPr>
              <a:t>Окна и страницы WPF / XAML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6B6677"/>
                </a:solidFill>
                <a:latin typeface="Segoe UI"/>
              </a:rPr>
              <a:t>Светлая и тёмная темы оформления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3552" y="3063239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C88A3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874519"/>
            <a:ext cx="2651760" cy="30175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651760" cy="640080"/>
          </a:xfrm>
          <a:prstGeom prst="round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984247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Логика (ViewModel)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74319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B2B33"/>
                </a:solidFill>
                <a:latin typeface="Segoe UI"/>
              </a:rPr>
              <a:t>MVVM, привязка данных и команды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6B6677"/>
                </a:solidFill>
                <a:latin typeface="Segoe UI"/>
              </a:rPr>
              <a:t>RelayCommand, INotifyPropertyChanged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3063239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C88A3C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874519"/>
            <a:ext cx="2651760" cy="30175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72784" y="1874519"/>
            <a:ext cx="2651760" cy="640080"/>
          </a:xfrm>
          <a:prstGeom prst="roundRect">
            <a:avLst/>
          </a:prstGeom>
          <a:solidFill>
            <a:srgbClr val="4C8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4" y="1984247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Сервисы (Services)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74319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B2B33"/>
                </a:solidFill>
                <a:latin typeface="Segoe UI"/>
              </a:rPr>
              <a:t>Бизнес-логика приложения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6B6677"/>
                </a:solidFill>
                <a:latin typeface="Segoe UI"/>
              </a:rPr>
              <a:t>Auth, Ingredient, Cocktail, Receipt, Revision…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3063239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C88A3C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874519"/>
            <a:ext cx="2651760" cy="301752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89136" y="1874519"/>
            <a:ext cx="2651760" cy="640080"/>
          </a:xfrm>
          <a:prstGeom prst="roundRect">
            <a:avLst/>
          </a:prstGeom>
          <a:solidFill>
            <a:srgbClr val="3D6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26296" y="1984247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Данные (EF Core)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74319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2B2B33"/>
                </a:solidFill>
                <a:latin typeface="Segoe UI"/>
              </a:rPr>
              <a:t>AppDbContext, доменные модели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6B6677"/>
                </a:solidFill>
                <a:latin typeface="Segoe UI"/>
              </a:rPr>
              <a:t>Microsoft SQL Server, 12 таблиц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6677"/>
                </a:solidFill>
                <a:latin typeface="Segoe UI"/>
              </a:rPr>
              <a:t>Разделение на слои упрощает сопровождение и тестирование: пользовательский интерфейс отделён от бизнес-логики, а доступ к данным инкапсулирован в сервисах и контексте EF 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Технологический стек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dirty="0">
                <a:solidFill>
                  <a:srgbClr val="6B6677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🧩  Платформа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C# / .NET 8, WPF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0020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74650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🏗️  Архитектура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MVVM, Dependency Injection (Hosting)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69748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84378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🗄️  База данных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Microsoft SQL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69748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69748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84378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🔗  ORM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Entity Framework Core 8 (Code-First)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9476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94106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🔐  Безопасность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BCrypt.Net — хэширование паролей, роли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94106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📊  Документы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ClosedXML — импорт/экспорт Excel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9204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89204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503834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✉️  Уведомления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SMTP / System.Net.Mail — e-mail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92040"/>
            <a:ext cx="5349240" cy="91440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172200" y="4892040"/>
            <a:ext cx="73152" cy="9144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5038344"/>
            <a:ext cx="4983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B2B33"/>
                </a:solidFill>
                <a:latin typeface="Segoe UI"/>
              </a:rPr>
              <a:t>🧪  Тестирование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xUnit + EF Core InMemory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Функциональные возможности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200" b="1" dirty="0">
                <a:solidFill>
                  <a:srgbClr val="6B6677"/>
                </a:solidFill>
                <a:latin typeface="Segoe UI"/>
              </a:rPr>
              <a:t>6</a:t>
            </a:r>
            <a:r>
              <a:rPr sz="1200" b="1" i="0" dirty="0">
                <a:solidFill>
                  <a:srgbClr val="6B6677"/>
                </a:solidFill>
                <a:latin typeface="Segoe UI"/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502152" cy="17830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92808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88A3C"/>
                </a:solidFill>
                <a:latin typeface="Segoe UI"/>
              </a:rPr>
              <a:t>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Учёт ингредиентов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Карточки с остатком и единицей измерения, категории, поиск и фильтрация.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691640"/>
            <a:ext cx="3502152" cy="17830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892808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88A3C"/>
                </a:solidFill>
                <a:latin typeface="Segoe UI"/>
              </a:rPr>
              <a:t>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68880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Коктейли и рецептура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Состав коктейля из ингредиентов; продажа автоматически списывает остатки.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91640"/>
            <a:ext cx="3502152" cy="17830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38744" y="1892808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88A3C"/>
                </a:solidFill>
                <a:latin typeface="Segoe UI"/>
              </a:rPr>
              <a:t>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2468880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Продажи (чеки)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Оформление чеков, история продаж, контроль фактического расхода.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75888"/>
            <a:ext cx="3502152" cy="17830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77056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88A3C"/>
                </a:solidFill>
                <a:latin typeface="Segoe UI"/>
              </a:rPr>
              <a:t>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53128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Поставки (накладные)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Приём ингредиентов по накладным с пополнением остатков на складе.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3675888"/>
            <a:ext cx="3502152" cy="17830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3877056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88A3C"/>
                </a:solidFill>
                <a:latin typeface="Segoe U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4453128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Инвентаризация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Ревизия: сверка системного и фактического остатка, расчёт расхождений.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3675888"/>
            <a:ext cx="3502152" cy="17830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38744" y="3877056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C88A3C"/>
                </a:solidFill>
                <a:latin typeface="Segoe UI"/>
              </a:rPr>
              <a:t>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453128"/>
            <a:ext cx="30449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B2B33"/>
                </a:solidFill>
                <a:latin typeface="Segoe UI"/>
              </a:rPr>
              <a:t>Контроль дефицита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677"/>
                </a:solidFill>
                <a:latin typeface="Segoe UI"/>
              </a:rPr>
              <a:t>Отчёт о низких остатках и e-mail-уведомления, экспорт/импорт в Excel.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Безопасность и ролевая модель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200" b="1" dirty="0">
                <a:solidFill>
                  <a:srgbClr val="6B6677"/>
                </a:solidFill>
                <a:latin typeface="Segoe UI"/>
              </a:rPr>
              <a:t>7</a:t>
            </a:r>
            <a:endParaRPr sz="1200" b="1" i="0" dirty="0">
              <a:solidFill>
                <a:srgbClr val="6B6677"/>
              </a:solidFill>
              <a:latin typeface="Segoe U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257800" cy="429768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2B2B33"/>
                </a:solidFill>
                <a:latin typeface="Segoe UI"/>
              </a:rPr>
              <a:t>🔐  Защита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C88A3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B2B33"/>
                </a:solidFill>
                <a:latin typeface="Segoe UI"/>
              </a:rPr>
              <a:t>Аутентификация по логину и паролю.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C88A3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B2B33"/>
                </a:solidFill>
                <a:latin typeface="Segoe UI"/>
              </a:rPr>
              <a:t>Пароли хранятся в виде BCrypt-хэшей.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C88A3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B2B33"/>
                </a:solidFill>
                <a:latin typeface="Segoe UI"/>
              </a:rPr>
              <a:t>Доступ к разделам зависит от роли пользователя.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C88A3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B2B33"/>
                </a:solidFill>
                <a:latin typeface="Segoe UI"/>
              </a:rPr>
              <a:t>Управление пользователями — только у администратора.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i="0">
                <a:solidFill>
                  <a:srgbClr val="C88A3C"/>
                </a:solidFill>
                <a:latin typeface="Segoe UI"/>
              </a:rPr>
              <a:t>•  </a:t>
            </a:r>
            <a:r>
              <a:rPr sz="1300" b="0" i="0">
                <a:solidFill>
                  <a:srgbClr val="2B2B33"/>
                </a:solidFill>
                <a:latin typeface="Segoe UI"/>
              </a:rPr>
              <a:t>Строки подключения и SMTP вынесены в appsettings.json.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349240" cy="128016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109728" cy="1280160"/>
          </a:xfrm>
          <a:prstGeom prst="rect">
            <a:avLst/>
          </a:prstGeom>
          <a:solidFill>
            <a:srgbClr val="2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2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2B33"/>
                </a:solidFill>
                <a:latin typeface="Segoe UI"/>
              </a:rPr>
              <a:t>Администратор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Полный доступ, управление пользователями и ролями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108960"/>
            <a:ext cx="5349240" cy="128016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108960"/>
            <a:ext cx="109728" cy="1280160"/>
          </a:xfrm>
          <a:prstGeom prst="rect">
            <a:avLst/>
          </a:prstGeom>
          <a:solidFill>
            <a:srgbClr val="C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2918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2B33"/>
                </a:solidFill>
                <a:latin typeface="Segoe UI"/>
              </a:rPr>
              <a:t>Менеджер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Ингредиенты, коктейли, поставки, ревизии, отчёты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526280"/>
            <a:ext cx="5349240" cy="1280160"/>
          </a:xfrm>
          <a:prstGeom prst="roundRect">
            <a:avLst/>
          </a:prstGeom>
          <a:solidFill>
            <a:srgbClr val="F4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4526280"/>
            <a:ext cx="109728" cy="1280160"/>
          </a:xfrm>
          <a:prstGeom prst="rect">
            <a:avLst/>
          </a:prstGeom>
          <a:solidFill>
            <a:srgbClr val="7A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7091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B2B33"/>
                </a:solidFill>
                <a:latin typeface="Segoe UI"/>
              </a:rPr>
              <a:t>Бармен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677"/>
                </a:solidFill>
                <a:latin typeface="Segoe UI"/>
              </a:rPr>
              <a:t>Просмотр остатков и оформление продаж (чеков)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2B2B33"/>
                </a:solidFill>
                <a:latin typeface="Segoe UI"/>
              </a:rPr>
              <a:t>Заключение и результаты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8288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0" y="6172200"/>
            <a:ext cx="8229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200" b="1" dirty="0">
                <a:solidFill>
                  <a:srgbClr val="6B6677"/>
                </a:solidFill>
                <a:latin typeface="Segoe UI"/>
              </a:rPr>
              <a:t>8</a:t>
            </a:r>
            <a:endParaRPr sz="1200" b="1" i="0" dirty="0">
              <a:solidFill>
                <a:srgbClr val="6B6677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C8B6B"/>
                </a:solidFill>
                <a:latin typeface="Segoe UI"/>
              </a:rPr>
              <a:t>✓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Разработано настольное приложение учёта складских запасов бара на WPF / .NET 8 (архитектура MVVM).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C8B6B"/>
                </a:solidFill>
                <a:latin typeface="Segoe UI"/>
              </a:rPr>
              <a:t>✓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Реализованы модули: ингредиенты, коктейли, продажи, поставки, инвентаризация и контроль остатков.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C8B6B"/>
                </a:solidFill>
                <a:latin typeface="Segoe UI"/>
              </a:rPr>
              <a:t>✓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Создана база данных из 12 таблиц в SQL Server, доступ к данным — через Entity Framework Core.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C8B6B"/>
                </a:solidFill>
                <a:latin typeface="Segoe UI"/>
              </a:rPr>
              <a:t>✓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Внедрены ролевая модель доступа (Администратор, Менеджер, Бармен) и хэширование паролей (BCrypt).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C8B6B"/>
                </a:solidFill>
                <a:latin typeface="Segoe UI"/>
              </a:rPr>
              <a:t>✓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Добавлены импорт/экспорт Excel (ClosedXML) и e-mail-уведомления о низких остатках.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4C8B6B"/>
                </a:solidFill>
                <a:latin typeface="Segoe UI"/>
              </a:rPr>
              <a:t>✓  </a:t>
            </a:r>
            <a:r>
              <a:rPr sz="1350" b="0" i="0">
                <a:solidFill>
                  <a:srgbClr val="2B2B33"/>
                </a:solidFill>
                <a:latin typeface="Segoe UI"/>
              </a:rPr>
              <a:t>Ключевая бизнес-логика покрыта модульными тестами (xUnit, EF Core InMemory).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66360"/>
            <a:ext cx="10881360" cy="960120"/>
          </a:xfrm>
          <a:prstGeom prst="roundRect">
            <a:avLst/>
          </a:prstGeom>
          <a:solidFill>
            <a:srgbClr val="201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A458"/>
                </a:solidFill>
                <a:latin typeface="Segoe UI"/>
              </a:rPr>
              <a:t>Итог: 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создана единая система учёта, которая исключает ручные ошибки, автоматизирует списание и инвентаризацию. Цель дипломного проектирования достигнута в полном объёме.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CFC6DB"/>
                </a:solidFill>
                <a:latin typeface="Segoe UI"/>
              </a:rPr>
              <a:t>ФЕДЕРАЛЬНОЕ ГОСУДАРСТВЕННОЕ БЮДЖЕТНОЕ ОБРАЗОВАТЕЛЬНОЕ УЧРЕЖДЕНИЕ ВЫСШЕГО ОБРАЗОВАНИЯ «САНКТ-ПЕТЕРБУРГСКИЙ ГОСУДАРСТВЕННЫЙ УНИВЕРСИТЕТ ТЕЛЕКОММУНИКАЦИЙ ИМ. ПРОФ. М.А. БОНЧ-БРУЕВИЧА» (СПбГУТ)
АРХАНГЕЛЬСКИЙ КОЛЛЕДЖ ТЕЛЕКОММУНИКАЦИЙ ИМ. Б.Л. РОЗИНГА (ФИЛИАЛ) СПбГУТ (АКТ (ф) СПбГУТ)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0A458"/>
                </a:solidFill>
                <a:latin typeface="Segoe UI"/>
              </a:rPr>
              <a:t>ДИПЛОМНЫЙ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70319"/>
            <a:ext cx="10332720" cy="106016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 dirty="0" err="1">
                <a:solidFill>
                  <a:srgbClr val="FFFFFF"/>
                </a:solidFill>
                <a:latin typeface="Segoe UI"/>
              </a:rPr>
              <a:t>Разработка</a:t>
            </a:r>
            <a:r>
              <a:rPr sz="3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Segoe UI"/>
              </a:rPr>
              <a:t>информационной</a:t>
            </a:r>
            <a:r>
              <a:rPr sz="3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Segoe UI"/>
              </a:rPr>
              <a:t>системы</a:t>
            </a:r>
            <a:r>
              <a:rPr sz="3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lang="ru-RU" sz="3400" b="1" i="0" dirty="0">
                <a:solidFill>
                  <a:srgbClr val="FFFFFF"/>
                </a:solidFill>
                <a:latin typeface="Segoe UI"/>
              </a:rPr>
              <a:t>«</a:t>
            </a:r>
            <a:r>
              <a:rPr lang="ru-RU" sz="3400" b="1" i="0" dirty="0" err="1">
                <a:solidFill>
                  <a:srgbClr val="FFFFFF"/>
                </a:solidFill>
                <a:latin typeface="Segoe UI"/>
              </a:rPr>
              <a:t>Гастробар</a:t>
            </a:r>
            <a:r>
              <a:rPr lang="ru-RU" sz="3400" b="1" dirty="0">
                <a:solidFill>
                  <a:srgbClr val="FFFFFF"/>
                </a:solidFill>
                <a:latin typeface="Segoe UI"/>
              </a:rPr>
              <a:t>. Учет продуктов кухни</a:t>
            </a:r>
            <a:r>
              <a:rPr lang="ru-RU" sz="3400" b="1" i="0" dirty="0">
                <a:solidFill>
                  <a:srgbClr val="FFFFFF"/>
                </a:solidFill>
                <a:latin typeface="Segoe UI"/>
              </a:rPr>
              <a:t>»</a:t>
            </a:r>
            <a:endParaRPr sz="34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175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CFC6DB"/>
                </a:solidFill>
                <a:latin typeface="Segoe UI"/>
              </a:rPr>
              <a:t>Дипломник</a:t>
            </a:r>
            <a:r>
              <a:rPr sz="1400" b="0" i="0" dirty="0">
                <a:solidFill>
                  <a:srgbClr val="CFC6DB"/>
                </a:solidFill>
                <a:latin typeface="Segoe UI"/>
              </a:rPr>
              <a:t>:  </a:t>
            </a:r>
            <a:r>
              <a:rPr lang="ru-RU" sz="1400" b="1" i="0" dirty="0" err="1">
                <a:solidFill>
                  <a:srgbClr val="FFFFFF"/>
                </a:solidFill>
                <a:latin typeface="Segoe UI"/>
              </a:rPr>
              <a:t>Кленин</a:t>
            </a:r>
            <a:r>
              <a:rPr lang="ru-RU" sz="1400" b="1" i="0" dirty="0">
                <a:solidFill>
                  <a:srgbClr val="FFFFFF"/>
                </a:solidFill>
                <a:latin typeface="Segoe UI"/>
              </a:rPr>
              <a:t> Игорь Николаевич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CFC6DB"/>
                </a:solidFill>
                <a:latin typeface="Segoe UI"/>
              </a:rPr>
              <a:t>Группа</a:t>
            </a:r>
            <a:r>
              <a:rPr sz="1400" b="0" i="0" dirty="0">
                <a:solidFill>
                  <a:srgbClr val="CFC6DB"/>
                </a:solidFill>
                <a:latin typeface="Segoe UI"/>
              </a:rPr>
              <a:t>:  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ИСПП-21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dirty="0" err="1">
                <a:solidFill>
                  <a:srgbClr val="CFC6DB"/>
                </a:solidFill>
                <a:latin typeface="Segoe UI"/>
              </a:rPr>
              <a:t>Руководитель</a:t>
            </a:r>
            <a:r>
              <a:rPr sz="1400" b="0" i="0" dirty="0">
                <a:solidFill>
                  <a:srgbClr val="CFC6DB"/>
                </a:solidFill>
                <a:latin typeface="Segoe UI"/>
              </a:rPr>
              <a:t>: 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Ипатов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Вадим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Segoe UI"/>
              </a:rPr>
              <a:t>Дмитриевич</a:t>
            </a:r>
            <a:endParaRPr sz="1400" b="1" i="0" dirty="0">
              <a:solidFill>
                <a:srgbClr val="FFFFFF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ru-RU" sz="1300" b="0" i="0" dirty="0">
              <a:solidFill>
                <a:srgbClr val="E0A458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ru-RU" sz="1300" dirty="0">
              <a:solidFill>
                <a:srgbClr val="E0A458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ru-RU" sz="1300" b="0" i="0" dirty="0">
              <a:solidFill>
                <a:srgbClr val="E0A458"/>
              </a:solidFill>
              <a:latin typeface="Segoe UI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dirty="0" err="1">
                <a:solidFill>
                  <a:srgbClr val="E0A458"/>
                </a:solidFill>
                <a:latin typeface="Segoe UI"/>
              </a:rPr>
              <a:t>Архангельск</a:t>
            </a:r>
            <a:r>
              <a:rPr sz="1300" b="0" i="0" dirty="0">
                <a:solidFill>
                  <a:srgbClr val="E0A458"/>
                </a:solidFill>
                <a:latin typeface="Segoe UI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763164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833</Words>
  <Application>Microsoft Office PowerPoint</Application>
  <PresentationFormat>Широкоэкранный</PresentationFormat>
  <Paragraphs>128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Егор Чугин</cp:lastModifiedBy>
  <cp:revision>2</cp:revision>
  <dcterms:created xsi:type="dcterms:W3CDTF">2013-01-27T09:14:16Z</dcterms:created>
  <dcterms:modified xsi:type="dcterms:W3CDTF">2026-06-14T14:25:25Z</dcterms:modified>
  <cp:category/>
</cp:coreProperties>
</file>